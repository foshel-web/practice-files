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Nunito SemiBold"/>
      <p:regular r:id="rId201314"/>
    </p:embeddedFont>
    <p:embeddedFont>
      <p:font typeface="Nunito Bold"/>
      <p:regular r:id="rId201315"/>
    </p:embeddedFont>
    <p:embeddedFont>
      <p:font typeface="Nunito ExtraBold"/>
      <p:regular r:id="rId201316"/>
    </p:embeddedFont>
    <p:embeddedFont>
      <p:font typeface="Titan One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C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464" y="118467"/>
            <a:ext cx="11954767" cy="6621066"/>
          </a:xfrm>
          <a:prstGeom prst="rect">
            <a:avLst>
              <a:gd name="adj" fmla="val 2148"/>
            </a:avLst>
          </a:prstGeom>
          <a:noFill/>
          <a:ln w="19050">
            <a:solidFill>
              <a:srgbClr val="FFF8EE">
                <a:alpha val="90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C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64" y="118467"/>
            <a:ext cx="11954767" cy="6621066"/>
          </a:xfrm>
          <a:prstGeom prst="rect">
            <a:avLst>
              <a:gd name="adj" fmla="val 2148"/>
            </a:avLst>
          </a:prstGeom>
          <a:noFill/>
          <a:ln w="19050">
            <a:solidFill>
              <a:srgbClr val="FFF8EE">
                <a:alpha val="90000"/>
              </a:srgbClr>
            </a:solidFill>
            <a:prstDash val="solid"/>
          </a:ln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C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464" y="118467"/>
            <a:ext cx="11954767" cy="6621066"/>
          </a:xfrm>
          <a:prstGeom prst="rect">
            <a:avLst>
              <a:gd name="adj" fmla="val 2148"/>
            </a:avLst>
          </a:prstGeom>
          <a:noFill/>
          <a:ln w="19050">
            <a:solidFill>
              <a:srgbClr val="FFF8EE">
                <a:alpha val="90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82" y="1092200"/>
            <a:ext cx="5968851" cy="3924300"/>
          </a:xfrm>
          <a:prstGeom prst="roundRect">
            <a:avLst>
              <a:gd name="adj" fmla="val 8543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41374" y="1378744"/>
            <a:ext cx="59688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 WORLD BUILT FOR ADVENTURE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1374" y="1752048"/>
            <a:ext cx="5359266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60" kern="100" dirty="0">
                <a:solidFill>
                  <a:srgbClr val="000000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Pokémon:</a:t>
            </a:r>
            <a:endParaRPr lang="en-US" sz="6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000" spc="-60" kern="100" dirty="0">
                <a:solidFill>
                  <a:srgbClr val="000000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A World Built</a:t>
            </a:r>
            <a:endParaRPr lang="en-US" sz="6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000" spc="-60" kern="100" dirty="0">
                <a:solidFill>
                  <a:srgbClr val="000000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for Adventure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38179" y="5308600"/>
            <a:ext cx="5968851" cy="1122561"/>
          </a:xfrm>
          <a:prstGeom prst="roundRect">
            <a:avLst>
              <a:gd name="adj" fmla="val 29867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773" y="5461000"/>
            <a:ext cx="551166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Partners, discoveries, and choices around every path.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16013"/>
            <a:ext cx="56488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 WORLD OF POKÉMON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454397"/>
            <a:ext cx="5039293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Pokémon are creatures with surprising powers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3856831"/>
            <a:ext cx="1662964" cy="50701"/>
          </a:xfrm>
          <a:prstGeom prst="roundRect">
            <a:avLst>
              <a:gd name="adj" fmla="val 49999"/>
            </a:avLst>
          </a:prstGeom>
          <a:solidFill>
            <a:srgbClr val="F2433D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182269"/>
            <a:ext cx="5039293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They come in many shapes, sizes, habitats, and personalities.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Some live in the wild, while others live alongside people in towns and cities.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715552" y="0"/>
            <a:ext cx="5476143" cy="6858000"/>
          </a:xfrm>
          <a:prstGeom prst="roundRect">
            <a:avLst>
              <a:gd name="adj" fmla="val 6122"/>
            </a:avLst>
          </a:prstGeom>
          <a:solidFill>
            <a:srgbClr val="3AA7F0"/>
          </a:solidFill>
          <a:ln w="25399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546" y="254000"/>
            <a:ext cx="4968155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893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151" y="616744"/>
            <a:ext cx="62355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YOUR FIRST QUEST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956151" y="955128"/>
            <a:ext cx="562595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Every adventure starts with a partner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956151" y="2765425"/>
            <a:ext cx="584185" cy="584200"/>
          </a:xfrm>
          <a:prstGeom prst="ellipse">
            <a:avLst/>
          </a:prstGeom>
          <a:solidFill>
            <a:srgbClr val="1E2A4A"/>
          </a:solidFill>
          <a:ln w="19050">
            <a:solidFill>
              <a:srgbClr val="FFF8EE">
                <a:alpha val="5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46041" y="2886075"/>
            <a:ext cx="10138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FFF8EE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956151" y="3446165"/>
            <a:ext cx="1671993" cy="19050"/>
          </a:xfrm>
          <a:prstGeom prst="rect">
            <a:avLst/>
          </a:prstGeom>
          <a:solidFill>
            <a:srgbClr val="F2433D"/>
          </a:solidFill>
          <a:ln/>
        </p:spPr>
      </p:sp>
      <p:sp>
        <p:nvSpPr>
          <p:cNvPr id="8" name="Text 5"/>
          <p:cNvSpPr/>
          <p:nvPr/>
        </p:nvSpPr>
        <p:spPr>
          <a:xfrm>
            <a:off x="5956151" y="3615690"/>
            <a:ext cx="16720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Choose a partner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956151" y="4421386"/>
            <a:ext cx="1672092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 Pokémon joins you for the journey.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933035" y="2765425"/>
            <a:ext cx="584185" cy="584200"/>
          </a:xfrm>
          <a:prstGeom prst="ellipse">
            <a:avLst/>
          </a:prstGeom>
          <a:solidFill>
            <a:srgbClr val="3AA7F0"/>
          </a:solidFill>
          <a:ln w="19050">
            <a:solidFill>
              <a:srgbClr val="1E2A4A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5343" y="2886075"/>
            <a:ext cx="106915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7933035" y="3446165"/>
            <a:ext cx="1671993" cy="19050"/>
          </a:xfrm>
          <a:prstGeom prst="rect">
            <a:avLst/>
          </a:prstGeom>
          <a:solidFill>
            <a:srgbClr val="F24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933035" y="3615690"/>
            <a:ext cx="16720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Explore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933035" y="4101405"/>
            <a:ext cx="1672092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Travel through towns, routes, and wild places.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909919" y="2765425"/>
            <a:ext cx="584185" cy="584200"/>
          </a:xfrm>
          <a:prstGeom prst="ellipse">
            <a:avLst/>
          </a:prstGeom>
          <a:solidFill>
            <a:srgbClr val="3FA85A"/>
          </a:solidFill>
          <a:ln w="19050">
            <a:solidFill>
              <a:srgbClr val="1E2A4A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73120" y="2886075"/>
            <a:ext cx="10673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03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9909919" y="3446165"/>
            <a:ext cx="1672092" cy="19050"/>
          </a:xfrm>
          <a:prstGeom prst="rect">
            <a:avLst/>
          </a:prstGeom>
          <a:solidFill>
            <a:srgbClr val="F2433D"/>
          </a:solidFill>
          <a:ln/>
        </p:spPr>
      </p:sp>
      <p:sp>
        <p:nvSpPr>
          <p:cNvPr id="18" name="Text 15"/>
          <p:cNvSpPr/>
          <p:nvPr/>
        </p:nvSpPr>
        <p:spPr>
          <a:xfrm>
            <a:off x="9909919" y="3615690"/>
            <a:ext cx="16721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Keep learning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909919" y="4421386"/>
            <a:ext cx="1672191" cy="168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Meet people, discover Pokémon, and learn as you go.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37059"/>
            <a:ext cx="53338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 SIMPLE WAY TO READ THE WORLD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575444"/>
            <a:ext cx="472428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Types help explain what Pokémon can 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385741"/>
            <a:ext cx="4724282" cy="224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Pokémon can have one or two of 18 types, including Fire, Water, Grass, Electric, and Fairy.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Types create strengths and weaknesses, so different matchups call for different choices.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48244" y="0"/>
            <a:ext cx="5943451" cy="6858000"/>
          </a:xfrm>
          <a:prstGeom prst="roundRect">
            <a:avLst>
              <a:gd name="adj" fmla="val 5641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6838" y="1001117"/>
            <a:ext cx="3361646" cy="1904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76838" y="3127633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Fire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76838" y="3492698"/>
            <a:ext cx="259073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strong against Grass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72366" y="3127633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Water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372366" y="3492698"/>
            <a:ext cx="259073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strong against Fire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76838" y="4140855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Grass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76838" y="4505920"/>
            <a:ext cx="259073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strong against Water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372366" y="4140855"/>
            <a:ext cx="25907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Electric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372366" y="4505920"/>
            <a:ext cx="259073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watch the matchup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76838" y="5154077"/>
            <a:ext cx="548626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Fairy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76838" y="5519142"/>
            <a:ext cx="5486263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one more possibility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1730"/>
            <a:ext cx="1158211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TEAMWORK IN MOTION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960115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A great team mixes different strengths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703612"/>
            <a:ext cx="3454314" cy="2539702"/>
          </a:xfrm>
          <a:prstGeom prst="roundRect">
            <a:avLst>
              <a:gd name="adj" fmla="val 13201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932212"/>
            <a:ext cx="482588" cy="48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3564989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Different abilities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8179" y="4001492"/>
            <a:ext cx="299712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Build a team with different abilities, types, and personalities.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68691" y="2703612"/>
            <a:ext cx="3454314" cy="2539702"/>
          </a:xfrm>
          <a:prstGeom prst="roundRect">
            <a:avLst>
              <a:gd name="adj" fmla="val 13201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932212"/>
            <a:ext cx="482588" cy="482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564989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Think ahead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597285" y="4001492"/>
            <a:ext cx="299712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strongest-looking Pokémon is not always best for the moment.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8127797" y="2703612"/>
            <a:ext cx="3454314" cy="2539702"/>
          </a:xfrm>
          <a:prstGeom prst="roundRect">
            <a:avLst>
              <a:gd name="adj" fmla="val 13201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932212"/>
            <a:ext cx="482588" cy="482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3564989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Find your style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356391" y="4001492"/>
            <a:ext cx="299712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Try, learn, switch, and discover which partners fit you.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744"/>
            <a:ext cx="1158211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DISCOVERY BECOMES A QUEST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95512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The Pokédex turns discovery into a quest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32025"/>
            <a:ext cx="3454314" cy="2977852"/>
          </a:xfrm>
          <a:prstGeom prst="roundRect">
            <a:avLst>
              <a:gd name="adj" fmla="val 11259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8179" y="2460625"/>
            <a:ext cx="857229" cy="857250"/>
          </a:xfrm>
          <a:prstGeom prst="ellipse">
            <a:avLst/>
          </a:prstGeom>
          <a:solidFill>
            <a:srgbClr val="F2433D"/>
          </a:solidFill>
          <a:ln w="1905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48" y="2717800"/>
            <a:ext cx="342891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53155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Notice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8179" y="3968055"/>
            <a:ext cx="299712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Finding Pokémon is part of the journey, not just a checklist.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68691" y="2232025"/>
            <a:ext cx="3454314" cy="2977852"/>
          </a:xfrm>
          <a:prstGeom prst="roundRect">
            <a:avLst>
              <a:gd name="adj" fmla="val 11259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7285" y="2460625"/>
            <a:ext cx="857229" cy="857250"/>
          </a:xfrm>
          <a:prstGeom prst="ellipse">
            <a:avLst/>
          </a:prstGeom>
          <a:solidFill>
            <a:srgbClr val="3AA7F0"/>
          </a:solidFill>
          <a:ln w="19050">
            <a:solidFill>
              <a:srgbClr val="1E2A4A">
                <a:alpha val="5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454" y="2717800"/>
            <a:ext cx="342891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85" y="353155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Understand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97285" y="3968055"/>
            <a:ext cx="299712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Each new discovery adds to your understanding of the world.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127797" y="2232025"/>
            <a:ext cx="3454314" cy="2977852"/>
          </a:xfrm>
          <a:prstGeom prst="roundRect">
            <a:avLst>
              <a:gd name="adj" fmla="val 11259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1" y="2460625"/>
            <a:ext cx="857229" cy="857250"/>
          </a:xfrm>
          <a:prstGeom prst="ellipse">
            <a:avLst/>
          </a:prstGeom>
          <a:solidFill>
            <a:srgbClr val="3FA85A"/>
          </a:solidFill>
          <a:ln w="19050">
            <a:solidFill>
              <a:srgbClr val="1E2A4A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560" y="2717800"/>
            <a:ext cx="342891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6391" y="353155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Keep exploring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356391" y="3968055"/>
            <a:ext cx="2997125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Collecting gives every route a reason to continue.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34752"/>
            <a:ext cx="35051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 FUN IS IN THE NEXT CHOICE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373137"/>
            <a:ext cx="350511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20" kern="100" dirty="0">
                <a:solidFill>
                  <a:srgbClr val="1E2A4A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Battles are about choices, not just power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716834"/>
            <a:ext cx="3505112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E2A4A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 battle asks you to notice what is happening, then decide what to try next.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1886" y="971550"/>
            <a:ext cx="2133547" cy="2675533"/>
          </a:xfrm>
          <a:prstGeom prst="roundRect">
            <a:avLst>
              <a:gd name="adj" fmla="val 15714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0480" y="1572578"/>
            <a:ext cx="167635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Choose a move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00480" y="2405261"/>
            <a:ext cx="167635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Pick an action that fits the moment.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010225" y="971550"/>
            <a:ext cx="2133547" cy="2675533"/>
          </a:xfrm>
          <a:prstGeom prst="roundRect">
            <a:avLst>
              <a:gd name="adj" fmla="val 15714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38819" y="1572578"/>
            <a:ext cx="167635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Match types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19" y="2405261"/>
            <a:ext cx="167635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Use strengths and watch for weaknesses.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448564" y="971550"/>
            <a:ext cx="2133547" cy="2675533"/>
          </a:xfrm>
          <a:prstGeom prst="roundRect">
            <a:avLst>
              <a:gd name="adj" fmla="val 15714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77158" y="1572578"/>
            <a:ext cx="167635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Adapt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677158" y="2009080"/>
            <a:ext cx="167635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Switch plans when the next move changes.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1886" y="4066183"/>
            <a:ext cx="7010225" cy="1081881"/>
          </a:xfrm>
          <a:custGeom>
            <a:avLst/>
            <a:gdLst/>
            <a:ahLst/>
            <a:cxnLst/>
            <a:rect l="l" t="t" r="r" b="b"/>
            <a:pathLst>
              <a:path w="7010225" h="1081881">
                <a:moveTo>
                  <a:pt x="330192" y="0"/>
                </a:moveTo>
                <a:lnTo>
                  <a:pt x="6680033" y="0"/>
                </a:lnTo>
                <a:arcTo hR="330200" wR="330192" stAng="16200000" swAng="5400000"/>
                <a:lnTo>
                  <a:pt x="7010225" y="954882"/>
                </a:lnTo>
                <a:arcTo hR="127000" wR="126997" stAng="0" swAng="5400000"/>
                <a:lnTo>
                  <a:pt x="126997" y="1081881"/>
                </a:lnTo>
                <a:arcTo hR="127000" wR="126997" stAng="5400000" swAng="5400000"/>
                <a:lnTo>
                  <a:pt x="0" y="330200"/>
                </a:lnTo>
                <a:arcTo hR="330200" wR="330192" stAng="10800000" swAng="5400000"/>
                <a:close/>
              </a:path>
            </a:pathLst>
          </a:custGeom>
          <a:solidFill>
            <a:srgbClr val="FFC93C"/>
          </a:solidFill>
          <a:ln w="25399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1279" y="4269383"/>
            <a:ext cx="6451439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And outside battles: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trading, battling, and sharing the hobby can help fans make new friends.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76998" y="3685183"/>
            <a:ext cx="266693" cy="609600"/>
          </a:xfrm>
          <a:prstGeom prst="roundRect">
            <a:avLst>
              <a:gd name="adj" fmla="val 50000"/>
            </a:avLst>
          </a:prstGeom>
          <a:noFill/>
          <a:ln w="25399">
            <a:solidFill>
              <a:srgbClr val="FFF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6718" y="609600"/>
            <a:ext cx="723882" cy="723900"/>
          </a:xfrm>
          <a:prstGeom prst="ellipse">
            <a:avLst/>
          </a:prstGeom>
          <a:solidFill>
            <a:srgbClr val="F2433D"/>
          </a:solidFill>
          <a:ln/>
          <a:effectLst>
            <a:outerShdw sx="100000" sy="100000" kx="0" ky="0" algn="bl" rotWithShape="0" blurRad="127" dist="31750" dir="2700000">
              <a:srgbClr val="ff5c56">
                <a:alpha val="10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688" y="790575"/>
            <a:ext cx="361941" cy="3619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15057" y="609600"/>
            <a:ext cx="723882" cy="723900"/>
          </a:xfrm>
          <a:prstGeom prst="ellipse">
            <a:avLst/>
          </a:prstGeom>
          <a:solidFill>
            <a:srgbClr val="F2433D"/>
          </a:solidFill>
          <a:ln/>
          <a:effectLst>
            <a:outerShdw sx="100000" sy="100000" kx="0" ky="0" algn="bl" rotWithShape="0" blurRad="127" dist="31750" dir="2700000">
              <a:srgbClr val="ff5c56">
                <a:alpha val="10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027" y="790575"/>
            <a:ext cx="361941" cy="36195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153396" y="609600"/>
            <a:ext cx="723882" cy="723900"/>
          </a:xfrm>
          <a:prstGeom prst="ellipse">
            <a:avLst/>
          </a:prstGeom>
          <a:solidFill>
            <a:srgbClr val="F2433D"/>
          </a:solidFill>
          <a:ln/>
          <a:effectLst>
            <a:outerShdw sx="100000" sy="100000" kx="0" ky="0" algn="bl" rotWithShape="0" blurRad="127" dist="31750" dir="2700000">
              <a:srgbClr val="ff5c56">
                <a:alpha val="10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366" y="790575"/>
            <a:ext cx="361941" cy="3619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6998" y="4205883"/>
            <a:ext cx="152396" cy="152400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17780" dist="17780" dir="5400000">
              <a:srgbClr val="1e2a4a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380" y="1270000"/>
            <a:ext cx="6222844" cy="3702447"/>
          </a:xfrm>
          <a:prstGeom prst="roundRect">
            <a:avLst>
              <a:gd name="adj" fmla="val 9055"/>
            </a:avLst>
          </a:prstGeom>
          <a:solidFill>
            <a:srgbClr val="FFF8EE"/>
          </a:solidFill>
          <a:ln w="25399">
            <a:solidFill>
              <a:srgbClr val="000000">
                <a:alpha val="42000"/>
              </a:srgbClr>
            </a:solidFill>
            <a:prstDash val="solid"/>
          </a:ln>
          <a:effectLst>
            <a:outerShdw sx="100000" sy="100000" kx="0" ky="0" algn="bl" rotWithShape="0" blurRad="127" dist="49530" dir="5400000">
              <a:srgbClr val="1e2a4a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68371" y="1581944"/>
            <a:ext cx="60704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15" kern="100" dirty="0">
                <a:solidFill>
                  <a:srgbClr val="1E2A4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 FIRST STEP IS A QUESTION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8371" y="1933029"/>
            <a:ext cx="546086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40" kern="100" dirty="0">
                <a:solidFill>
                  <a:srgbClr val="000000"/>
                </a:solidFill>
                <a:latin typeface="Titan One" pitchFamily="34" charset="0"/>
                <a:ea typeface="Titan One" pitchFamily="34" charset="-122"/>
                <a:cs typeface="Titan One" pitchFamily="34" charset="-120"/>
              </a:rPr>
              <a:t>Your Pokémon journey starts with curiosity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68371" y="3654425"/>
            <a:ext cx="5460863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Pick a partner, ask questions, explore a new place, and see which Pokémon become part of your story.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2026-10-16T16:40:46Z</dcterms:created>
  <dcterms:modified xsi:type="dcterms:W3CDTF">2026-10-16T16:40:46Z</dcterms:modified>
</cp:coreProperties>
</file>